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9bd9e6d1e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269bd9e6d1e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69bd9e6d1e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269bd9e6d1e_1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9bd9e6d1e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269bd9e6d1e_1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9b811f0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9b811f0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9b811f0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9b811f0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9b811f0f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9b811f0f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b7c2dfe4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bb7c2dfe4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9b811f0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9b811f0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b7c2dfe4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b7c2dfe4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9b811f0f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9b811f0f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b5b431656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b5b431656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b5b4316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b5b4316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b5b43165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bb5b4316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b9caa74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b9caa74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b9caa745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b9caa745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b5b431656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b5b431656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bb7c2dfe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bb7c2dfe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9d917429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9d917429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003669" y="1908150"/>
            <a:ext cx="7136668" cy="152400"/>
            <a:chOff x="1346429" y="1011300"/>
            <a:chExt cx="6452100" cy="152400"/>
          </a:xfrm>
        </p:grpSpPr>
        <p:cxnSp>
          <p:nvCxnSpPr>
            <p:cNvPr id="11" name="Google Shape;11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" name="Google Shape;13;p2"/>
          <p:cNvGrpSpPr/>
          <p:nvPr/>
        </p:nvGrpSpPr>
        <p:grpSpPr>
          <a:xfrm>
            <a:off x="1003664" y="3270450"/>
            <a:ext cx="7136668" cy="152400"/>
            <a:chOff x="1346435" y="3969088"/>
            <a:chExt cx="6452100" cy="1524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827238" y="2154300"/>
            <a:ext cx="74895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914400" y="2106000"/>
            <a:ext cx="73152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5744"/>
              <a:buFont typeface="Calibri"/>
              <a:buNone/>
            </a:pPr>
            <a:r>
              <a:rPr lang="en" sz="4700">
                <a:latin typeface="Georgia"/>
                <a:ea typeface="Georgia"/>
                <a:cs typeface="Georgia"/>
                <a:sym typeface="Georgia"/>
              </a:rPr>
              <a:t>Crossing Gap Using VQE</a:t>
            </a:r>
            <a:endParaRPr sz="47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543075" y="3757625"/>
            <a:ext cx="631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200">
                <a:latin typeface="Georgia"/>
                <a:ea typeface="Georgia"/>
                <a:cs typeface="Georgia"/>
                <a:sym typeface="Georgia"/>
              </a:rPr>
              <a:t>I-C. Chen, N. Innan, S.K. Roy, and J. Saroni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" name="Google Shape;72;p14"/>
          <p:cNvSpPr txBox="1"/>
          <p:nvPr>
            <p:ph type="ctrTitle"/>
          </p:nvPr>
        </p:nvSpPr>
        <p:spPr>
          <a:xfrm>
            <a:off x="914400" y="2885100"/>
            <a:ext cx="73152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Calibri"/>
              <a:buNone/>
            </a:pPr>
            <a:r>
              <a:rPr b="0" i="1" lang="en" sz="283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C</a:t>
            </a:r>
            <a:r>
              <a:rPr b="0" i="1" lang="en" sz="283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omparative</a:t>
            </a:r>
            <a:r>
              <a:rPr b="0" i="1" lang="en" sz="283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Study</a:t>
            </a:r>
            <a:endParaRPr b="0" i="1" sz="283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Outline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628650" y="1369225"/>
            <a:ext cx="7886700" cy="3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2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Variational Quantum Eigensolver</a:t>
            </a:r>
            <a:endParaRPr sz="22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2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Subspace Search VQE (SS-VQE) </a:t>
            </a:r>
            <a:endParaRPr sz="22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2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Variational Quantum Deflation (VQD)</a:t>
            </a:r>
            <a:endParaRPr sz="22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2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Bring spectral gap problem to highly excited state  </a:t>
            </a:r>
            <a:endParaRPr sz="22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Georgia"/>
              <a:buChar char="●"/>
            </a:pPr>
            <a:r>
              <a:rPr lang="en" sz="2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VQE with Quantum Natural Gradient </a:t>
            </a:r>
            <a:endParaRPr sz="22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13395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0" y="89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n" sz="3040">
                <a:latin typeface="Georgia"/>
                <a:ea typeface="Georgia"/>
                <a:cs typeface="Georgia"/>
                <a:sym typeface="Georgia"/>
              </a:rPr>
              <a:t>Variational Quantum Eigensolver</a:t>
            </a:r>
            <a:endParaRPr sz="304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325" y="1237441"/>
            <a:ext cx="34671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707900" y="734050"/>
            <a:ext cx="35931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The ground state energy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88" name="Google Shape;88;p16"/>
          <p:cNvGrpSpPr/>
          <p:nvPr/>
        </p:nvGrpSpPr>
        <p:grpSpPr>
          <a:xfrm>
            <a:off x="628650" y="1885941"/>
            <a:ext cx="3593100" cy="600075"/>
            <a:chOff x="628650" y="2571741"/>
            <a:chExt cx="3593100" cy="600075"/>
          </a:xfrm>
        </p:grpSpPr>
        <p:pic>
          <p:nvPicPr>
            <p:cNvPr id="89" name="Google Shape;89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16475" y="2571741"/>
              <a:ext cx="2524125" cy="600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6"/>
            <p:cNvSpPr txBox="1"/>
            <p:nvPr/>
          </p:nvSpPr>
          <p:spPr>
            <a:xfrm>
              <a:off x="628650" y="2636588"/>
              <a:ext cx="3593100" cy="4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Georgia"/>
                  <a:ea typeface="Georgia"/>
                  <a:cs typeface="Georgia"/>
                  <a:sym typeface="Georgia"/>
                </a:rPr>
                <a:t>Where</a:t>
              </a:r>
              <a:endParaRPr sz="2100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6325" y="2591591"/>
            <a:ext cx="5537180" cy="1666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953500" y="4602425"/>
            <a:ext cx="5314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Peruzzo et al. Nature Comm.5, 4213 (2014)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900">
                <a:latin typeface="Georgia"/>
                <a:ea typeface="Georgia"/>
                <a:cs typeface="Georgia"/>
                <a:sym typeface="Georgia"/>
              </a:rPr>
              <a:t>Variational Quantum Deflation (VQD)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838" y="958950"/>
            <a:ext cx="73056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579575" y="734650"/>
            <a:ext cx="3058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The cost function: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36375"/>
            <a:ext cx="8839198" cy="19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8525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729075" y="4589375"/>
            <a:ext cx="60951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Oscar Higgott et al. Quantum 3, 156 (2019).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Subspace Search VQE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 (SS-VQE)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6425" y="689394"/>
            <a:ext cx="42100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1200" y="1781169"/>
            <a:ext cx="17335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0425" y="2185406"/>
            <a:ext cx="6259154" cy="2266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79550" y="1285838"/>
            <a:ext cx="832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The prepared 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initial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 states needs to be orthogonal with each other 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720675" y="4424300"/>
            <a:ext cx="5967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Ken M. Nakanishi et al. Phys. Rev. Research 1, 033062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7">
            <a:alphaModFix/>
          </a:blip>
          <a:srcRect b="-155250" l="12160" r="-12160" t="155250"/>
          <a:stretch/>
        </p:blipFill>
        <p:spPr>
          <a:xfrm>
            <a:off x="203175" y="4305296"/>
            <a:ext cx="9143999" cy="743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0" y="1539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Result for LiH with Sz=0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50" y="1808200"/>
            <a:ext cx="4250050" cy="30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895" y="1808199"/>
            <a:ext cx="4106204" cy="30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0" y="1009600"/>
            <a:ext cx="41064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We use spin restrict UCCSD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Their Accuracy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0452"/>
            <a:ext cx="4680901" cy="335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4">
            <a:alphaModFix/>
          </a:blip>
          <a:srcRect b="0" l="0" r="0" t="-1245"/>
          <a:stretch/>
        </p:blipFill>
        <p:spPr>
          <a:xfrm>
            <a:off x="4680889" y="1420450"/>
            <a:ext cx="4354286" cy="335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Result for LiH with Sz=1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0" y="1081699"/>
            <a:ext cx="7886700" cy="61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use spin restrict UCCSD</a:t>
            </a:r>
            <a:endParaRPr sz="21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4900"/>
            <a:ext cx="4497028" cy="33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94908"/>
            <a:ext cx="4497025" cy="3361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Their Accuracy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6100"/>
            <a:ext cx="4521050" cy="329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475" y="1319225"/>
            <a:ext cx="4457575" cy="32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Map Highly Excited State to Ground State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338" y="865194"/>
            <a:ext cx="19907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850950" y="841800"/>
            <a:ext cx="32721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Fold the Hamiltonian: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4" name="Google Shape;164;p23"/>
          <p:cNvGrpSpPr/>
          <p:nvPr/>
        </p:nvGrpSpPr>
        <p:grpSpPr>
          <a:xfrm>
            <a:off x="4724400" y="1123487"/>
            <a:ext cx="4970050" cy="3502663"/>
            <a:chOff x="4724400" y="1504487"/>
            <a:chExt cx="4970050" cy="3502663"/>
          </a:xfrm>
        </p:grpSpPr>
        <p:pic>
          <p:nvPicPr>
            <p:cNvPr id="165" name="Google Shape;165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32325" y="1929319"/>
              <a:ext cx="4018481" cy="29689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94450" y="1504487"/>
              <a:ext cx="947550" cy="547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3"/>
            <p:cNvSpPr txBox="1"/>
            <p:nvPr/>
          </p:nvSpPr>
          <p:spPr>
            <a:xfrm>
              <a:off x="6694450" y="2643188"/>
              <a:ext cx="30000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accent1"/>
                  </a:solidFill>
                  <a:latin typeface="Georgia"/>
                  <a:ea typeface="Georgia"/>
                  <a:cs typeface="Georgia"/>
                  <a:sym typeface="Georgia"/>
                </a:rPr>
                <a:t>Sz=1</a:t>
              </a:r>
              <a:endParaRPr/>
            </a:p>
          </p:txBody>
        </p:sp>
        <p:sp>
          <p:nvSpPr>
            <p:cNvPr id="168" name="Google Shape;168;p23"/>
            <p:cNvSpPr txBox="1"/>
            <p:nvPr/>
          </p:nvSpPr>
          <p:spPr>
            <a:xfrm>
              <a:off x="6184375" y="4675650"/>
              <a:ext cx="16629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Georgia"/>
                  <a:ea typeface="Georgia"/>
                  <a:cs typeface="Georgia"/>
                  <a:sym typeface="Georgia"/>
                </a:rPr>
                <a:t>Atomic unit</a:t>
              </a:r>
              <a:endParaRPr sz="1800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9" name="Google Shape;169;p23"/>
            <p:cNvSpPr txBox="1"/>
            <p:nvPr/>
          </p:nvSpPr>
          <p:spPr>
            <a:xfrm>
              <a:off x="4724400" y="3073275"/>
              <a:ext cx="6576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Georgia"/>
                  <a:ea typeface="Georgia"/>
                  <a:cs typeface="Georgia"/>
                  <a:sym typeface="Georgia"/>
                </a:rPr>
                <a:t>Ha</a:t>
              </a:r>
              <a:endParaRPr sz="1800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71" name="Google Shape;171;p23"/>
          <p:cNvGrpSpPr/>
          <p:nvPr/>
        </p:nvGrpSpPr>
        <p:grpSpPr>
          <a:xfrm>
            <a:off x="-115500" y="1182900"/>
            <a:ext cx="4441543" cy="3578863"/>
            <a:chOff x="-115500" y="1411500"/>
            <a:chExt cx="4441543" cy="3578863"/>
          </a:xfrm>
        </p:grpSpPr>
        <p:grpSp>
          <p:nvGrpSpPr>
            <p:cNvPr id="172" name="Google Shape;172;p23"/>
            <p:cNvGrpSpPr/>
            <p:nvPr/>
          </p:nvGrpSpPr>
          <p:grpSpPr>
            <a:xfrm>
              <a:off x="-115500" y="1411500"/>
              <a:ext cx="4441543" cy="3578863"/>
              <a:chOff x="130450" y="1428287"/>
              <a:chExt cx="4441543" cy="3578863"/>
            </a:xfrm>
          </p:grpSpPr>
          <p:pic>
            <p:nvPicPr>
              <p:cNvPr id="173" name="Google Shape;173;p2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53513" y="1929319"/>
                <a:ext cx="4018481" cy="2968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" name="Google Shape;174;p23"/>
              <p:cNvSpPr txBox="1"/>
              <p:nvPr/>
            </p:nvSpPr>
            <p:spPr>
              <a:xfrm>
                <a:off x="130450" y="3073275"/>
                <a:ext cx="657600" cy="33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Georgia"/>
                    <a:ea typeface="Georgia"/>
                    <a:cs typeface="Georgia"/>
                    <a:sym typeface="Georgia"/>
                  </a:rPr>
                  <a:t>Ha</a:t>
                </a:r>
                <a:endParaRPr sz="1800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5" name="Google Shape;175;p23"/>
              <p:cNvSpPr txBox="1"/>
              <p:nvPr/>
            </p:nvSpPr>
            <p:spPr>
              <a:xfrm>
                <a:off x="1785450" y="4675650"/>
                <a:ext cx="1662900" cy="33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latin typeface="Georgia"/>
                    <a:ea typeface="Georgia"/>
                    <a:cs typeface="Georgia"/>
                    <a:sym typeface="Georgia"/>
                  </a:rPr>
                  <a:t>Atomic unit</a:t>
                </a:r>
                <a:endParaRPr sz="1800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pic>
            <p:nvPicPr>
              <p:cNvPr id="176" name="Google Shape;176;p2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228850" y="1428287"/>
                <a:ext cx="947550" cy="5474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7" name="Google Shape;177;p23"/>
            <p:cNvSpPr txBox="1"/>
            <p:nvPr/>
          </p:nvSpPr>
          <p:spPr>
            <a:xfrm>
              <a:off x="2491050" y="2748675"/>
              <a:ext cx="15261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accent1"/>
                  </a:solidFill>
                  <a:latin typeface="Georgia"/>
                  <a:ea typeface="Georgia"/>
                  <a:cs typeface="Georgia"/>
                  <a:sym typeface="Georgia"/>
                </a:rPr>
                <a:t>Sz=0</a:t>
              </a:r>
              <a:endParaRPr/>
            </a:p>
          </p:txBody>
        </p:sp>
      </p:grpSp>
      <p:sp>
        <p:nvSpPr>
          <p:cNvPr id="178" name="Google Shape;178;p23"/>
          <p:cNvSpPr txBox="1"/>
          <p:nvPr/>
        </p:nvSpPr>
        <p:spPr>
          <a:xfrm>
            <a:off x="1691700" y="2520350"/>
            <a:ext cx="1990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FS-VQD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5661625" y="2373900"/>
            <a:ext cx="1990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FS-VQD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2366625" y="4755425"/>
            <a:ext cx="57531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Lila Cadi Tazi et al. arXiv:2305.04783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VQE with 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Quantum Natural Gradient Optimizer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185725" y="1330800"/>
            <a:ext cx="8532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QNG is a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n optimizer designed to improve efficiency by utilizing the geometry of the quantum parameter space.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It moves beyond "flat" optimization landscapes by utilizing the Fubini-Study metric tensor, g, for curvature-aware steps.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100" y="2856675"/>
            <a:ext cx="3479105" cy="214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025" y="3452825"/>
            <a:ext cx="3331300" cy="6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Results for H</a:t>
            </a:r>
            <a:r>
              <a:rPr baseline="-25000" lang="en" sz="3000"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 and LiH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7400"/>
            <a:ext cx="4342375" cy="3425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225" y="1353650"/>
            <a:ext cx="4342375" cy="343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675" y="1268044"/>
            <a:ext cx="4494642" cy="357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Results for BeH</a:t>
            </a:r>
            <a:r>
              <a:rPr baseline="-25000" lang="en" sz="3000">
                <a:latin typeface="Georgia"/>
                <a:ea typeface="Georgia"/>
                <a:cs typeface="Georgia"/>
                <a:sym typeface="Georgia"/>
              </a:rPr>
              <a:t>2</a:t>
            </a:r>
            <a:endParaRPr baseline="-25000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125" y="555419"/>
            <a:ext cx="4760873" cy="357065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type="title"/>
          </p:nvPr>
        </p:nvSpPr>
        <p:spPr>
          <a:xfrm>
            <a:off x="322900" y="20711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Adaptive Quantum Natural Gradient VQE for 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LiH</a:t>
            </a:r>
            <a:endParaRPr baseline="-25000"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322900" y="1278750"/>
            <a:ext cx="4149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We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adaptively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select only gates that have a gradient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threshold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 above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aseline="30000" lang="en" sz="1800">
                <a:latin typeface="Calibri"/>
                <a:ea typeface="Calibri"/>
                <a:cs typeface="Calibri"/>
                <a:sym typeface="Calibri"/>
              </a:rPr>
              <a:t>-5</a:t>
            </a:r>
            <a:endParaRPr baseline="30000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This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reduces redundant gates and keeps accuracy.</a:t>
            </a:r>
            <a:endParaRPr baseline="30000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237350" y="4749300"/>
            <a:ext cx="72501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https://pennylane.ai/qml/demos/tutorial_adaptive_circuits/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237350" y="4440288"/>
            <a:ext cx="8640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Harper R. Grimsley et al, Nature Communications volume 10,3007 (2019)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322900" y="-7475"/>
            <a:ext cx="8487900" cy="1114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Improving speed: Tapered SSVQE with Mera and 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strongly</a:t>
            </a: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 entangling layers ansatz</a:t>
            </a:r>
            <a:endParaRPr baseline="-25000"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300" y="711138"/>
            <a:ext cx="5055698" cy="379177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162550" y="1406425"/>
            <a:ext cx="427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Pauli tapering reduces the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number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 of qubit for VQE.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Mera tensor network method speed up a lot but trade off with the accuracy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5891100" y="2263950"/>
            <a:ext cx="325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SSVQE algorithm in  one optimization process</a:t>
            </a: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603650" y="2777875"/>
            <a:ext cx="31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40550" y="4297350"/>
            <a:ext cx="65550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https://pennylane.ai/qml/demos/tutorial_qubit_tapering/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40550" y="4692925"/>
            <a:ext cx="85431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https://docs.pennylane.ai/en/stable/code/api/pennylane.MERA.html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0" y="595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354750" y="1314813"/>
            <a:ext cx="81606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The VQD works best for finding the first excited state.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The FS-VQD allow us explore highly excited state without starting training from the lowest energy state.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QNG significantly enhances the efficiency of VQE by considering the geometry of the parameter space.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QNG demonstrates faster convergence to ground state energy, reducing computational resources and time.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The effectiveness of QNG across various molecular systems showcases its broad applicability in quantum computational chemistry.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Outlook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628650" y="1489800"/>
            <a:ext cx="7886700" cy="216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Georgia"/>
              <a:buChar char="●"/>
            </a:pPr>
            <a:r>
              <a:rPr lang="en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Explore larger system (i.e. H</a:t>
            </a:r>
            <a:r>
              <a:rPr baseline="-25000" lang="en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O)</a:t>
            </a:r>
            <a:endParaRPr sz="26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Georgia"/>
              <a:buChar char="●"/>
            </a:pPr>
            <a:r>
              <a:rPr lang="en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Make adaptive version more stable</a:t>
            </a:r>
            <a:endParaRPr sz="26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Georgia"/>
              <a:buChar char="●"/>
            </a:pPr>
            <a:r>
              <a:rPr lang="en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Merge QNG with VQE approaches</a:t>
            </a:r>
            <a:endParaRPr/>
          </a:p>
        </p:txBody>
      </p:sp>
      <p:pic>
        <p:nvPicPr>
          <p:cNvPr id="242" name="Google Shape;2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250" y="0"/>
            <a:ext cx="1712748" cy="9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/>
          <p:nvPr/>
        </p:nvSpPr>
        <p:spPr>
          <a:xfrm>
            <a:off x="2325" y="3347500"/>
            <a:ext cx="9144000" cy="23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78600" y="2135175"/>
            <a:ext cx="8986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Thank You </a:t>
            </a:r>
            <a:endParaRPr b="1" sz="3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for you attention!</a:t>
            </a:r>
            <a:endParaRPr b="1" sz="3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0" y="1896975"/>
            <a:ext cx="9144000" cy="23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